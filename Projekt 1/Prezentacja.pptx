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57d933ed0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57d933ed0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57d933e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57d933e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57d933ed0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57d933ed0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57d933ed0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57d933ed0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d57d933ed0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d57d933ed0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57d933ed0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57d933ed0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57d933ed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57d933ed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57d933ed0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57d933ed0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d57d933ed0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d57d933ed0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57d933ed0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57d933ed0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57d933ed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d57d933ed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57d933ed0_1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57d933ed0_1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7d933ed0_1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57d933ed0_1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7d933ed0_1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57d933ed0_1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57d933ed0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57d933ed0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7d933ed0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57d933ed0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57d933ed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57d933ed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wydajności ruchu internetowego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Mikołaj Kużownik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Tomasz Marek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8620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Wykorzystane narzędzia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Przetwarzanie danych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pandas - wczytywanie danych z pliku, selekcja kolumn, czyszczenie braków, filtrowanie outlinerów i agregacja danych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numpy - wykorzystane do szybkich obliczeń, np. wyliczenie pierwiasta z RMSE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Wizualizacja danych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matplotlib.pyplot - definiowanie osi, tytułów, legend i siatek oraz zapis wykresów do plików png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seaborn - generowanie wykresów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Uczenie maszynowe i modelwanie (scikit-learn)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podział danych na zbiór treningowy i testowy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implementacja i trenowanie algorytmów predykcyjnych</a:t>
            </a:r>
            <a:endParaRPr/>
          </a:p>
          <a:p>
            <a:pPr marL="457200" lvl="0" indent="-334328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wyliczanie metryk, takich jak MAE, RMSE oraz R²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2. Zrozumienie biznesowe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Celem analizy jest ocena wydajności ruchu internetowego w USA na podstawie pomiarów FCC (Federalna Komisja Łączności). W zadaniu badamy: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rozkład prędkości pobierania (download) i wysyłania (upload) danych,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zależności między parametrami wydajności,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zmiany wydajności między rokiem 2021 a 2023,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możliwość predykcji prędkości download na podstawie dostępnych danych.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3.	Przygotownie danych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Wczytano pliki z predkością pobierania i wczytywania dla roku 2021 i 2023.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Dokonano selekcji kolumn ( wybrano kolumny ‘id’, ‘bytes_sec’, ‘dtime’.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Przeliczono bajty/s na megabajty/s.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Dokonano konwersji kolumny ‘dtime’ aby wyodrębnić godzinę pomiaru i dzień tygodnia.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Dokonano agregacji danych: obliczono średnie prędkości download i upload dla każdego użytkownika.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925" y="3689975"/>
            <a:ext cx="4810125" cy="72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3.1 Sprawdzenie brakujących, niespójnych wartości i outlinerów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body" idx="1"/>
          </p:nvPr>
        </p:nvSpPr>
        <p:spPr>
          <a:xfrm>
            <a:off x="311700" y="1553225"/>
            <a:ext cx="3734100" cy="344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Podczas sprawdzania braków danych wykazano, że nie ma pustych wartości w latach 2021 i 2023.</a:t>
            </a: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Do wykrywania outlinerów użyto metodę IQR (rozstęp ćwiartkowy). Wykryto 682 wartości odstających w 2023 roku oraz 1314 w roku 2021.</a:t>
            </a:r>
            <a:endParaRPr/>
          </a:p>
          <a:p>
            <a:pPr marL="457200" lvl="0" indent="-317183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pl"/>
              <a:t>W latach 2023 wykryto 2 niespójne rekordy, natomiast w latach 2021 wykryto takich rekordów 6. Za niespójne rekordy uznano takie w których wartość pobierania lub wysyłania wyniosła &lt;= 0 Mbps lub &gt; 1000 Mbps.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6450" y="1120025"/>
            <a:ext cx="5217549" cy="371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3.2 Usuwanie niespójnych wartości i przegląd outlinerów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Po usunięciu niespójnych wartości, pozostało 4295 rekordów w 2023 roku oraz 5281 w 2021.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pl"/>
              <a:t>Outlinerów nie usuwano, ponieważ były one tylko wartościami odstającymi od średnich wyników. Wypisano tylko klika przykładów.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8" name="Google Shape;88;p18" title="Screenshot from 2026-04-11 17-10-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75" y="3143500"/>
            <a:ext cx="3781100" cy="113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9643" y="3143500"/>
            <a:ext cx="4853931" cy="11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3.3	 Podstawowe statystyki</a:t>
            </a: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47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Wyznaczono podstawowe statystyki: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mean - średnia arytmetyczna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std - odchylenie standardowe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min - minimum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25% (1 kwartyl) - wartość poniżej której znajduje się 25% wyników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50% (2 kwartyl)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75% (3 kwartyl)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/>
              <a:t>max - maximum</a:t>
            </a:r>
            <a:endParaRPr/>
          </a:p>
        </p:txBody>
      </p:sp>
      <p:pic>
        <p:nvPicPr>
          <p:cNvPr id="96" name="Google Shape;96;p19" title="6d08deeb-5cdf-41da-8e20-d6721df9dda3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0975" y="1162438"/>
            <a:ext cx="2581325" cy="265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84ef8680-0030-4a42-871d-480fe3c67a55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225" y="1152473"/>
            <a:ext cx="2581325" cy="26765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4.1	 Eksploracja danych - Porównanie 2021 vs 2023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453478"/>
            <a:ext cx="2077800" cy="25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Porównanie średnich prędkośći download oraz upload między 2021 r.  i 2023r.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b="1"/>
              <a:t>Wniosek: </a:t>
            </a:r>
            <a:br>
              <a:rPr lang="pl" b="1"/>
            </a:br>
            <a:r>
              <a:rPr lang="pl"/>
              <a:t>Wydajność Internetu znacząco wzrosła w analizowanym okresie.</a:t>
            </a:r>
            <a:endParaRPr/>
          </a:p>
        </p:txBody>
      </p:sp>
      <p:pic>
        <p:nvPicPr>
          <p:cNvPr id="104" name="Google Shape;104;p20" title="barplot_2021_2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9500" y="1453475"/>
            <a:ext cx="6754626" cy="28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4.2 	Eksploracja danych - Zmienność w ciągu dnia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-144350" y="1436050"/>
            <a:ext cx="2077800" cy="330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Prędkość Internetu zmienia się w zależności od pory dnia.najwyższe wartości: ~7:00, ~13:00, ~19:00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/>
              <a:t>niższe wartości: noc i późny wieczór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b="1"/>
              <a:t>Wniosek: </a:t>
            </a:r>
            <a:r>
              <a:rPr lang="pl"/>
              <a:t>Wydajność zależy od obciążenia sieci.</a:t>
            </a:r>
            <a:endParaRPr/>
          </a:p>
        </p:txBody>
      </p:sp>
      <p:pic>
        <p:nvPicPr>
          <p:cNvPr id="111" name="Google Shape;111;p21" title="hourly_2021_vs_2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5850" y="1170125"/>
            <a:ext cx="6905751" cy="34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4.3 	Eksploracja danych - Dzień tygodnia vs godzina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-144350" y="1436050"/>
            <a:ext cx="2077800" cy="318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Analiza pokazuje powtarzalne wzorce w ciągu dnia.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b="1"/>
              <a:t>Wniosek: </a:t>
            </a:r>
            <a:br>
              <a:rPr lang="pl" b="1"/>
            </a:br>
            <a:r>
              <a:rPr lang="pl"/>
              <a:t>dzień tygodnia ma niewielki wpływ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l"/>
              <a:t>główny czynnik: godzina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2" title="heatmap_2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8475" y="1436050"/>
            <a:ext cx="7401225" cy="296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4.4 	Eksploracja danych - Rozkład prędkości</a:t>
            </a:r>
            <a:endParaRPr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-144350" y="1436050"/>
            <a:ext cx="2077800" cy="31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Rozkład prędkości jest asymetryczny.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mediana ~110 Mbps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średnia ~258 Mbps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/>
              <a:t>obecność wartości ekstremalnych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b="1"/>
              <a:t>Wniosek: </a:t>
            </a:r>
            <a:br>
              <a:rPr lang="pl" b="1"/>
            </a:br>
            <a:r>
              <a:rPr lang="pl"/>
              <a:t>Dane są silnie zróżnicowane i zawierają outliery.</a:t>
            </a:r>
            <a:endParaRPr/>
          </a:p>
        </p:txBody>
      </p:sp>
      <p:pic>
        <p:nvPicPr>
          <p:cNvPr id="125" name="Google Shape;125;p23" title="rozklad_dl_ul_20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1000" y="1436050"/>
            <a:ext cx="7103002" cy="25367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5.1 Modeling - Problem predykcji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204300"/>
            <a:ext cx="8520600" cy="31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b="1"/>
              <a:t>Cel:</a:t>
            </a:r>
            <a:br>
              <a:rPr lang="pl"/>
            </a:br>
            <a:r>
              <a:rPr lang="pl"/>
              <a:t>Celem było przewidzenie prędkości download.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pl" b="1"/>
              <a:t>Zmienne wejściowe:</a:t>
            </a:r>
            <a:br>
              <a:rPr lang="pl" b="1"/>
            </a:br>
            <a:r>
              <a:rPr lang="pl"/>
              <a:t>- upload</a:t>
            </a:r>
            <a:br>
              <a:rPr lang="pl"/>
            </a:br>
            <a:r>
              <a:rPr lang="pl"/>
              <a:t>- godzina</a:t>
            </a:r>
            <a:br>
              <a:rPr lang="pl"/>
            </a:br>
            <a:r>
              <a:rPr lang="pl"/>
              <a:t>- dzień tygdnia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b="1"/>
              <a:t>Modele:</a:t>
            </a:r>
            <a:br>
              <a:rPr lang="pl" b="1"/>
            </a:br>
            <a:r>
              <a:rPr lang="pl"/>
              <a:t>- regresja liniowa</a:t>
            </a:r>
            <a:br>
              <a:rPr lang="pl"/>
            </a:br>
            <a:r>
              <a:rPr lang="pl"/>
              <a:t>- random forest</a:t>
            </a:r>
            <a:br>
              <a:rPr lang="pl"/>
            </a:br>
            <a:r>
              <a:rPr lang="pl"/>
              <a:t>- gradient boosting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5.2 Modeling - Zastosowane modele predykcyjne</a:t>
            </a: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body" idx="1"/>
          </p:nvPr>
        </p:nvSpPr>
        <p:spPr>
          <a:xfrm>
            <a:off x="311700" y="1204300"/>
            <a:ext cx="8520600" cy="319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b="1"/>
              <a:t>Regresja liniowa</a:t>
            </a:r>
            <a:br>
              <a:rPr lang="pl" b="1"/>
            </a:br>
            <a:r>
              <a:rPr lang="pl"/>
              <a:t>- prosty model</a:t>
            </a:r>
            <a:br>
              <a:rPr lang="pl" b="1"/>
            </a:br>
            <a:r>
              <a:rPr lang="pl"/>
              <a:t>- zakłada liniową zależność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b="1"/>
              <a:t>Random Forest</a:t>
            </a:r>
            <a:br>
              <a:rPr lang="pl" b="1"/>
            </a:br>
            <a:r>
              <a:rPr lang="pl"/>
              <a:t>- wiele drzew decyzyjnych</a:t>
            </a:r>
            <a:br>
              <a:rPr lang="pl"/>
            </a:br>
            <a:r>
              <a:rPr lang="pl"/>
              <a:t>- odpornosc na szum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l" b="1"/>
              <a:t>Gradient Boosting</a:t>
            </a:r>
            <a:br>
              <a:rPr lang="pl" b="1"/>
            </a:br>
            <a:r>
              <a:rPr lang="pl"/>
              <a:t>- model iteracyjny</a:t>
            </a:r>
            <a:br>
              <a:rPr lang="pl"/>
            </a:br>
            <a:r>
              <a:rPr lang="pl"/>
              <a:t>- wysoka dokładność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5.3 Modeling - Wyniki modeli</a:t>
            </a:r>
            <a:endParaRPr/>
          </a:p>
        </p:txBody>
      </p:sp>
      <p:sp>
        <p:nvSpPr>
          <p:cNvPr id="143" name="Google Shape;143;p26"/>
          <p:cNvSpPr txBox="1">
            <a:spLocks noGrp="1"/>
          </p:cNvSpPr>
          <p:nvPr>
            <p:ph type="body" idx="1"/>
          </p:nvPr>
        </p:nvSpPr>
        <p:spPr>
          <a:xfrm>
            <a:off x="205200" y="1017725"/>
            <a:ext cx="4137000" cy="10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b="1"/>
              <a:t>Ocena modeli:</a:t>
            </a:r>
            <a:br>
              <a:rPr lang="pl" b="1"/>
            </a:br>
            <a:r>
              <a:rPr lang="pl"/>
              <a:t>Model uznajemy za najlepszy, jeśli:</a:t>
            </a:r>
            <a:br>
              <a:rPr lang="pl"/>
            </a:br>
            <a:r>
              <a:rPr lang="pl"/>
              <a:t>ma wysokie R² (lepsze dopasowanie)</a:t>
            </a:r>
            <a:br>
              <a:rPr lang="pl"/>
            </a:br>
            <a:r>
              <a:rPr lang="pl"/>
              <a:t>ma niski MAE i RMSE (mniejsze błędy)</a:t>
            </a:r>
            <a:endParaRPr/>
          </a:p>
        </p:txBody>
      </p:sp>
      <p:pic>
        <p:nvPicPr>
          <p:cNvPr id="144" name="Google Shape;144;p26" title="porownanie_model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38075"/>
            <a:ext cx="91440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4342200" y="1017725"/>
            <a:ext cx="4490100" cy="13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b="1"/>
              <a:t>Wyniki:</a:t>
            </a:r>
            <a:br>
              <a:rPr lang="pl"/>
            </a:br>
            <a:r>
              <a:rPr lang="pl" b="1"/>
              <a:t>Random Forest</a:t>
            </a:r>
            <a:r>
              <a:rPr lang="pl"/>
              <a:t> – najwyższe R² (~0.72), najniższe MAE i RMSE</a:t>
            </a:r>
            <a:br>
              <a:rPr lang="pl"/>
            </a:br>
            <a:r>
              <a:rPr lang="pl" b="1"/>
              <a:t>Gradient Boosting</a:t>
            </a:r>
            <a:r>
              <a:rPr lang="pl"/>
              <a:t> – bardzo podobne wyniki</a:t>
            </a:r>
            <a:br>
              <a:rPr lang="pl"/>
            </a:br>
            <a:r>
              <a:rPr lang="pl" b="1"/>
              <a:t>Regresja liniowa </a:t>
            </a:r>
            <a:r>
              <a:rPr lang="pl"/>
              <a:t>– najsłabsza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6.1 Ewaluacja - Predykcja vs rzeczywistosc</a:t>
            </a:r>
            <a:endParaRPr/>
          </a:p>
        </p:txBody>
      </p:sp>
      <p:pic>
        <p:nvPicPr>
          <p:cNvPr id="151" name="Google Shape;151;p27" title="predykcja_scatte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95500"/>
            <a:ext cx="9144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205200" y="1017725"/>
            <a:ext cx="4137000" cy="107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b="1"/>
              <a:t>Obserwacje:</a:t>
            </a:r>
            <a:br>
              <a:rPr lang="pl" b="1"/>
            </a:br>
            <a:r>
              <a:rPr lang="pl" b="1"/>
              <a:t>Regresja liniowa</a:t>
            </a:r>
            <a:r>
              <a:rPr lang="pl"/>
              <a:t>- duży rozrzut, słabe dopasowanie</a:t>
            </a:r>
            <a:br>
              <a:rPr lang="pl"/>
            </a:br>
            <a:r>
              <a:rPr lang="pl" b="1"/>
              <a:t>Random Forest</a:t>
            </a:r>
            <a:r>
              <a:rPr lang="pl"/>
              <a:t> - punkty blisko linii (najlepszy)</a:t>
            </a:r>
            <a:br>
              <a:rPr lang="pl"/>
            </a:br>
            <a:r>
              <a:rPr lang="pl" b="1"/>
              <a:t>Gradient Boosting</a:t>
            </a:r>
            <a:r>
              <a:rPr lang="pl"/>
              <a:t> - dobre dopasowanie</a:t>
            </a:r>
            <a:endParaRPr/>
          </a:p>
        </p:txBody>
      </p:sp>
      <p:sp>
        <p:nvSpPr>
          <p:cNvPr id="153" name="Google Shape;153;p27"/>
          <p:cNvSpPr txBox="1">
            <a:spLocks noGrp="1"/>
          </p:cNvSpPr>
          <p:nvPr>
            <p:ph type="body" idx="1"/>
          </p:nvPr>
        </p:nvSpPr>
        <p:spPr>
          <a:xfrm>
            <a:off x="4342200" y="1017725"/>
            <a:ext cx="4490100" cy="13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10000"/>
          </a:bodyPr>
          <a:lstStyle/>
          <a:p>
            <a:pPr marL="45720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pl" b="1"/>
              <a:t>Wyniki:</a:t>
            </a:r>
            <a:br>
              <a:rPr lang="pl"/>
            </a:br>
            <a:r>
              <a:rPr lang="pl" b="1"/>
              <a:t>Random Forest</a:t>
            </a:r>
            <a:r>
              <a:rPr lang="pl"/>
              <a:t> – najwyższe R² (~0.72), najniższe MAE i RMSE</a:t>
            </a:r>
            <a:br>
              <a:rPr lang="pl"/>
            </a:br>
            <a:r>
              <a:rPr lang="pl" b="1"/>
              <a:t>Gradient Boosting</a:t>
            </a:r>
            <a:r>
              <a:rPr lang="pl"/>
              <a:t> – bardzo podobne wyniki</a:t>
            </a:r>
            <a:br>
              <a:rPr lang="pl"/>
            </a:br>
            <a:r>
              <a:rPr lang="pl" b="1"/>
              <a:t>Regresja liniowa </a:t>
            </a:r>
            <a:r>
              <a:rPr lang="pl"/>
              <a:t>– najsłabsza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6.2 Ewaluacja - Ważność cech</a:t>
            </a:r>
            <a:endParaRPr/>
          </a:p>
        </p:txBody>
      </p:sp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216800" y="1263450"/>
            <a:ext cx="3171300" cy="31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 b="1"/>
              <a:t>Interpretacja:</a:t>
            </a:r>
            <a:br>
              <a:rPr lang="pl" b="1"/>
            </a:br>
            <a:r>
              <a:rPr lang="pl"/>
              <a:t>- model opiera się głównie na upload </a:t>
            </a:r>
            <a:br>
              <a:rPr lang="pl"/>
            </a:br>
            <a:r>
              <a:rPr lang="pl"/>
              <a:t>- pozostałe cechy maja małe znaczenie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pl" b="1"/>
              <a:t>Wniosek </a:t>
            </a:r>
            <a:br>
              <a:rPr lang="pl" b="1"/>
            </a:br>
            <a:r>
              <a:rPr lang="pl"/>
              <a:t>- upload jest kluczowym predyktorem prędkości downlod</a:t>
            </a:r>
            <a:endParaRPr/>
          </a:p>
        </p:txBody>
      </p:sp>
      <p:pic>
        <p:nvPicPr>
          <p:cNvPr id="160" name="Google Shape;160;p28" title="feature_importanc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88100" y="1204300"/>
            <a:ext cx="5755900" cy="28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7. Wnioski dotyczące danych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Zauważalna jest znacząca poprawa jakości usług. Średnia prędkość pobierania wzrosła z 139.81 Mbps w 2021 roku do 257.96 Mbps w 2023 roku. Jest to poprawa o niemal 85% w 2 lata, dowodzi to o inwestycji w modernizację infrastruktury telekomunikacyjnej w USA.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Rozkład prędkości jest bimodalny - wyraźnie widać dwie grupy użytkowników: z wolnymi łączami (&lt;100 Mbps) i szybkimi (&gt;800 Mbps).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W ciągu doby przez większość czasu widać niewielkie wahania, jednak prędkość jest zdecydowanie wyższa o godzinie 7, 13 oraz 19. Może to wskazywać na momenty odpoczynku od sieci, takie jak dojazd i powrót z pracy lub lunch.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Wzorzec godzinowy jest podobny w obu latach.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Prędkość nie zmienia się istotnie między dniami tygodnia - sieć jest stabilna przez cały tydzień. Nawet w weekendy, gdy natężenie sieci jest wyższe, infrastruktura dysponuje wystarczającym zapasem pojemności, aby nie dopuścić do obniżenia prędkości transferu.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7.1 Wnioski dotyczące predykcji</a:t>
            </a:r>
            <a:endParaRPr/>
          </a:p>
        </p:txBody>
      </p:sp>
      <p:sp>
        <p:nvSpPr>
          <p:cNvPr id="172" name="Google Shape;172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Najwyższą skuteczność osiągnął model Random Forest. Charakteryzując się najniższym błędem MAE (94.20 Mbps) i RMSE (149.75 Mbps) oraz najwyższym współczynnikiem determinacji R² (0.72).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Modele drzewiaste (Random Forest oraz Gradient Boosting) osiągnęły współczynniki powyżej wartości 0.7, co oznacza co oznacza, że potrafią one wyjaśnić ponad 70% zmienności prędkości pobierania na podstawie zaledwie trzech zmiennych wejściowych (upload, godzina, dzień tygodnia).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Analiza ważności cech wykazała, że model opiera się niemal wyłącznie na prędkości wysyłania. Choć ogólna wydajność sieci waha się w ciągu doby, z perspektywy algorytmu te spadki są zbyt małe w zestawieniu z ogromnymi różnicami w przepustowości.</a:t>
            </a:r>
            <a:endParaRPr/>
          </a:p>
          <a:p>
            <a:pPr marL="457200" lvl="0" indent="-325755" algn="l" rtl="0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pl"/>
              <a:t>Prędkość Upload okazała się najsilniejszym predyktorem dla wartości pobierania. Wynika to z faktu, że obie te wartości są determinowane przez pakiet wykupiony przez abonenta.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1090</Words>
  <Application>Microsoft Office PowerPoint</Application>
  <PresentationFormat>Pokaz na ekranie (16:9)</PresentationFormat>
  <Paragraphs>87</Paragraphs>
  <Slides>18</Slides>
  <Notes>18</Notes>
  <HiddenSlides>0</HiddenSlides>
  <MMClips>0</MMClips>
  <ScaleCrop>false</ScaleCrop>
  <HeadingPairs>
    <vt:vector size="6" baseType="variant">
      <vt:variant>
        <vt:lpstr>Używane czcionki</vt:lpstr>
      </vt:variant>
      <vt:variant>
        <vt:i4>1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0" baseType="lpstr">
      <vt:lpstr>Arial</vt:lpstr>
      <vt:lpstr>Simple Light</vt:lpstr>
      <vt:lpstr>Analiza wydajności ruchu internetowego</vt:lpstr>
      <vt:lpstr>Wykorzystane narzędzia</vt:lpstr>
      <vt:lpstr>2. Zrozumienie biznesowe</vt:lpstr>
      <vt:lpstr>3. Przygotownie danych</vt:lpstr>
      <vt:lpstr>3.1 Sprawdzenie brakujących, niespójnych wartości i outlinerów</vt:lpstr>
      <vt:lpstr>3.2 Usuwanie niespójnych wartości i przegląd outlinerów</vt:lpstr>
      <vt:lpstr>3.3  Podstawowe statystyki</vt:lpstr>
      <vt:lpstr>4.1  Eksploracja danych - Porównanie 2021 vs 2023</vt:lpstr>
      <vt:lpstr>4.2  Eksploracja danych - Zmienność w ciągu dnia</vt:lpstr>
      <vt:lpstr>4.3  Eksploracja danych - Dzień tygodnia vs godzina</vt:lpstr>
      <vt:lpstr>4.4  Eksploracja danych - Rozkład prędkości</vt:lpstr>
      <vt:lpstr>5.1 Modeling - Problem predykcji</vt:lpstr>
      <vt:lpstr>5.2 Modeling - Zastosowane modele predykcyjne</vt:lpstr>
      <vt:lpstr>5.3 Modeling - Wyniki modeli</vt:lpstr>
      <vt:lpstr>6.1 Ewaluacja - Predykcja vs rzeczywistosc</vt:lpstr>
      <vt:lpstr>6.2 Ewaluacja - Ważność cech</vt:lpstr>
      <vt:lpstr>7. Wnioski dotyczące danych</vt:lpstr>
      <vt:lpstr>7.1 Wnioski dotyczące predykcji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Mikołaj Kużownik</dc:creator>
  <cp:lastModifiedBy>Mikołaj Kużownik (272552)</cp:lastModifiedBy>
  <cp:revision>1</cp:revision>
  <dcterms:modified xsi:type="dcterms:W3CDTF">2026-04-12T17:10:51Z</dcterms:modified>
</cp:coreProperties>
</file>